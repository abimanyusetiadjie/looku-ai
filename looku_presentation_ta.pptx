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2557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A5D38"/>
                </a:solidFill>
                <a:latin typeface="Calibri"/>
              </a:defRPr>
            </a:pPr>
            <a:r>
              <a:rPr dirty="0"/>
              <a:t>PROPOSAL CAPSTONE PROJECT &amp; TUGAS AKHIR 2026</a:t>
            </a:r>
          </a:p>
          <a:p>
            <a:pPr>
              <a:spcBef>
                <a:spcPts val="800"/>
              </a:spcBef>
              <a:defRPr sz="4400" b="1">
                <a:solidFill>
                  <a:srgbClr val="181A18"/>
                </a:solidFill>
                <a:latin typeface="Georgia"/>
              </a:defRPr>
            </a:pPr>
            <a:r>
              <a:rPr lang="en-US" dirty="0" err="1"/>
              <a:t>L</a:t>
            </a:r>
            <a:r>
              <a:rPr dirty="0" err="1"/>
              <a:t>ook.u</a:t>
            </a:r>
            <a:r>
              <a:rPr dirty="0"/>
              <a:t> AI</a:t>
            </a:r>
          </a:p>
          <a:p>
            <a:pPr>
              <a:spcBef>
                <a:spcPts val="1000"/>
              </a:spcBef>
              <a:defRPr sz="1800" b="1">
                <a:solidFill>
                  <a:srgbClr val="181A18"/>
                </a:solidFill>
                <a:latin typeface="Georgia"/>
              </a:defRPr>
            </a:pPr>
            <a:r>
              <a:rPr dirty="0" err="1"/>
              <a:t>Rancang</a:t>
            </a:r>
            <a:r>
              <a:rPr dirty="0"/>
              <a:t> </a:t>
            </a:r>
            <a:r>
              <a:rPr dirty="0" err="1"/>
              <a:t>Bangun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Rekomendasi</a:t>
            </a:r>
            <a:r>
              <a:rPr dirty="0"/>
              <a:t> Outfit Harian </a:t>
            </a:r>
            <a:r>
              <a:rPr dirty="0" err="1"/>
              <a:t>Berbasis</a:t>
            </a:r>
            <a:r>
              <a:rPr dirty="0"/>
              <a:t> </a:t>
            </a:r>
            <a:r>
              <a:rPr dirty="0" err="1"/>
              <a:t>Kecerdasan</a:t>
            </a:r>
            <a:r>
              <a:rPr dirty="0"/>
              <a:t> </a:t>
            </a:r>
            <a:r>
              <a:rPr dirty="0" err="1"/>
              <a:t>Buatan</a:t>
            </a:r>
            <a:r>
              <a:rPr dirty="0"/>
              <a:t> (AI) </a:t>
            </a:r>
            <a:r>
              <a:rPr dirty="0" err="1"/>
              <a:t>Menggunakan</a:t>
            </a:r>
            <a:r>
              <a:rPr dirty="0"/>
              <a:t> </a:t>
            </a:r>
            <a:r>
              <a:rPr dirty="0" err="1"/>
              <a:t>Analisis</a:t>
            </a:r>
            <a:r>
              <a:rPr dirty="0"/>
              <a:t> Personal Color dan </a:t>
            </a:r>
            <a:r>
              <a:rPr dirty="0" err="1"/>
              <a:t>Adaptasi</a:t>
            </a:r>
            <a:r>
              <a:rPr dirty="0"/>
              <a:t> Iklim </a:t>
            </a:r>
            <a:r>
              <a:rPr dirty="0" err="1"/>
              <a:t>Tropis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8A7A68"/>
                </a:solidFill>
                <a:latin typeface="Calibri"/>
              </a:defRPr>
            </a:pPr>
            <a:r>
              <a:rPr dirty="0"/>
              <a:t>Solusi Cerdas </a:t>
            </a:r>
            <a:r>
              <a:rPr dirty="0" err="1"/>
              <a:t>Personalisasi</a:t>
            </a:r>
            <a:r>
              <a:rPr dirty="0"/>
              <a:t> Busana Harian </a:t>
            </a:r>
            <a:r>
              <a:rPr dirty="0" err="1"/>
              <a:t>Adaptif</a:t>
            </a:r>
            <a:r>
              <a:rPr dirty="0"/>
              <a:t> Iklim Panas </a:t>
            </a:r>
            <a:r>
              <a:rPr dirty="0" err="1"/>
              <a:t>Lembab</a:t>
            </a:r>
            <a:r>
              <a:rPr dirty="0"/>
              <a:t> &amp; Ramah Busana </a:t>
            </a:r>
            <a:r>
              <a:rPr dirty="0" err="1"/>
              <a:t>Santun</a:t>
            </a:r>
            <a:r>
              <a:rPr dirty="0"/>
              <a:t> (Modest Fashion)</a:t>
            </a:r>
          </a:p>
          <a:p>
            <a:pPr>
              <a:spcBef>
                <a:spcPts val="1200"/>
              </a:spcBef>
              <a:defRPr sz="1000">
                <a:solidFill>
                  <a:srgbClr val="E8DFD1"/>
                </a:solidFill>
              </a:defRPr>
            </a:pPr>
            <a:r>
              <a:rPr dirty="0"/>
              <a:t>——————————————————————————————————————</a:t>
            </a:r>
          </a:p>
          <a:p>
            <a:pPr>
              <a:spcBef>
                <a:spcPts val="600"/>
              </a:spcBef>
              <a:defRPr sz="1050" b="1">
                <a:solidFill>
                  <a:srgbClr val="181A18"/>
                </a:solidFill>
                <a:latin typeface="Calibri"/>
              </a:defRPr>
            </a:pPr>
            <a:r>
              <a:rPr dirty="0" err="1"/>
              <a:t>Disusun</a:t>
            </a:r>
            <a:r>
              <a:rPr dirty="0"/>
              <a:t> oleh: Tim </a:t>
            </a:r>
            <a:r>
              <a:rPr dirty="0" err="1"/>
              <a:t>Pengembang</a:t>
            </a:r>
            <a:r>
              <a:rPr dirty="0"/>
              <a:t> </a:t>
            </a:r>
            <a:r>
              <a:rPr dirty="0" err="1"/>
              <a:t>look.u</a:t>
            </a:r>
            <a:r>
              <a:rPr dirty="0"/>
              <a:t> AI (3 </a:t>
            </a:r>
            <a:r>
              <a:rPr dirty="0" err="1"/>
              <a:t>Anggota</a:t>
            </a:r>
            <a:r>
              <a:rPr dirty="0"/>
              <a:t>)  |  </a:t>
            </a:r>
            <a:r>
              <a:rPr dirty="0" err="1"/>
              <a:t>Fakultas</a:t>
            </a:r>
            <a:r>
              <a:rPr dirty="0"/>
              <a:t> / Program Studi </a:t>
            </a:r>
            <a:r>
              <a:rPr dirty="0" err="1"/>
              <a:t>Informatika</a:t>
            </a:r>
            <a:r>
              <a:rPr dirty="0"/>
              <a:t> &amp;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1: IDENTITAS &amp; TIM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Struktur Tim Pengembang &amp; Distribusi Tanggung Jawab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Kolaborasi 3 anggota multidisiplin untuk menghasilkan luaran komprehensif (AI, UI/UX, dan Data/Evaluasi)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CORE AI &amp; ALGORITHM</a:t>
            </a:r>
          </a:p>
          <a:p>
            <a:pPr>
              <a:spcBef>
                <a:spcPts val="3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AI &amp; Engine Architect</a:t>
            </a:r>
          </a:p>
          <a:p>
            <a:pPr>
              <a:defRPr sz="1000">
                <a:solidFill>
                  <a:srgbClr val="8A7A68"/>
                </a:solidFill>
                <a:latin typeface="Calibri"/>
              </a:defRPr>
            </a:pPr>
            <a:r>
              <a:t>Anggota 1 (Project Lead)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Merancang arsitektur kecerdasan buatan &amp; integrasi Generative AI (Gemini 2.5 Flash).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Merumuskan Knowledge-Based Matrix untuk 5 undertone kulit Indonesia &amp; sirkulasi kain.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Mengembangkan Heuristic Fallback Engine lokal untuk keandalan sistem tanpa downtime.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Mengawasi keselarasan metodologi penelitian dan pemenuhan luaran Capstone/TA.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57352"/>
                </a:solidFill>
                <a:latin typeface="Calibri"/>
              </a:defRPr>
            </a:pPr>
            <a:r>
              <a:t>HCI &amp; MOBILE-FIRST</a:t>
            </a:r>
          </a:p>
          <a:p>
            <a:pPr>
              <a:spcBef>
                <a:spcPts val="3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UI/UX &amp; Frontend Architect</a:t>
            </a:r>
          </a:p>
          <a:p>
            <a:pPr>
              <a:defRPr sz="1000">
                <a:solidFill>
                  <a:srgbClr val="8A7A68"/>
                </a:solidFill>
                <a:latin typeface="Calibri"/>
              </a:defRPr>
            </a:pPr>
            <a:r>
              <a:t>Anggota 2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Merancang antarmuka pengguna berbasis Mobile-First Priority &amp; Responsive Desktop Atelier.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Mengimplementasikan komponen interaktif Next.js 14 &amp; animasi ergonomis Framer Motion.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Menerapkan standardisasi sentuh Apple HIG (≥44px) &amp; optimasi virtual keyboard.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Menyusun prototipe interaktif pengujian pengguna dan alur happy-path evaluasi.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66176" y="196596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95848"/>
                </a:solidFill>
                <a:latin typeface="Calibri"/>
              </a:defRPr>
            </a:pPr>
            <a:r>
              <a:t>DATASET &amp; TESTING</a:t>
            </a:r>
          </a:p>
          <a:p>
            <a:pPr>
              <a:spcBef>
                <a:spcPts val="3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Data Engineer &amp; Evaluation QA</a:t>
            </a:r>
          </a:p>
          <a:p>
            <a:pPr>
              <a:defRPr sz="1000">
                <a:solidFill>
                  <a:srgbClr val="8A7A68"/>
                </a:solidFill>
                <a:latin typeface="Calibri"/>
              </a:defRPr>
            </a:pPr>
            <a:r>
              <a:t>Anggota 3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Mengurasi &amp; membersihkan dataset 300+ entitas busana lokal dan spesifikasi tekstil.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Mengintegrasikan penyimpanan database cloud Supabase &amp; sinkronisasi local storage.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Menyusun instrumen kuesioner System Usability Scale (SUS) &amp; menyebarkan ke responden.</a:t>
            </a:r>
          </a:p>
          <a:p>
            <a:pPr>
              <a:spcBef>
                <a:spcPts val="600"/>
              </a:spcBef>
              <a:defRPr sz="950">
                <a:solidFill>
                  <a:srgbClr val="181A18"/>
                </a:solidFill>
                <a:latin typeface="Calibri"/>
              </a:defRPr>
            </a:pPr>
            <a:r>
              <a:t>• Melakukan analisis statistik data kuesioner dan uji keamanan/validasi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2: LATAR BELAKANG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Urgensi Proyek: Mengapa Penelitian Ini Sangat Diperlukan?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Tantangan nyata yang dihadapi masyarakat Indonesia dalam berpakaian sehari-hari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A5D38"/>
                </a:solidFill>
                <a:latin typeface="Georgia"/>
              </a:defRPr>
            </a:pPr>
            <a:r>
              <a:rPr dirty="0"/>
              <a:t>01</a:t>
            </a:r>
          </a:p>
          <a:p>
            <a:pPr>
              <a:spcBef>
                <a:spcPts val="6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rPr dirty="0"/>
              <a:t>Decision Fatigue Pagi Hari</a:t>
            </a:r>
          </a:p>
          <a:p>
            <a:pPr>
              <a:defRPr sz="950" b="1">
                <a:solidFill>
                  <a:srgbClr val="557352"/>
                </a:solidFill>
                <a:latin typeface="Calibri"/>
              </a:defRPr>
            </a:pPr>
            <a:r>
              <a:rPr dirty="0" err="1"/>
              <a:t>Dilema</a:t>
            </a:r>
            <a:r>
              <a:rPr dirty="0"/>
              <a:t> 'Lemari </a:t>
            </a:r>
            <a:r>
              <a:rPr dirty="0" err="1"/>
              <a:t>Penuh</a:t>
            </a:r>
            <a:r>
              <a:rPr dirty="0"/>
              <a:t> Tapi </a:t>
            </a:r>
            <a:r>
              <a:rPr dirty="0" err="1"/>
              <a:t>Bingung</a:t>
            </a:r>
            <a:r>
              <a:rPr dirty="0"/>
              <a:t>'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rPr dirty="0"/>
              <a:t>Rata-rata </a:t>
            </a:r>
            <a:r>
              <a:rPr dirty="0" err="1"/>
              <a:t>individu</a:t>
            </a:r>
            <a:r>
              <a:rPr dirty="0"/>
              <a:t> </a:t>
            </a:r>
            <a:r>
              <a:rPr dirty="0" err="1"/>
              <a:t>menghabiskan</a:t>
            </a:r>
            <a:r>
              <a:rPr dirty="0"/>
              <a:t> 15–20 </a:t>
            </a:r>
            <a:r>
              <a:rPr dirty="0" err="1"/>
              <a:t>menit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pagi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memilih</a:t>
            </a:r>
            <a:r>
              <a:rPr dirty="0"/>
              <a:t> </a:t>
            </a:r>
            <a:r>
              <a:rPr dirty="0" err="1"/>
              <a:t>pakaian</a:t>
            </a:r>
            <a:r>
              <a:rPr dirty="0"/>
              <a:t> </a:t>
            </a:r>
            <a:r>
              <a:rPr dirty="0" err="1"/>
              <a:t>harian</a:t>
            </a:r>
            <a:r>
              <a:rPr dirty="0"/>
              <a:t>. Beban </a:t>
            </a:r>
            <a:r>
              <a:rPr dirty="0" err="1"/>
              <a:t>kognitif</a:t>
            </a:r>
            <a:r>
              <a:rPr dirty="0"/>
              <a:t> </a:t>
            </a:r>
            <a:r>
              <a:rPr dirty="0" err="1"/>
              <a:t>berulang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memicu</a:t>
            </a:r>
            <a:r>
              <a:rPr dirty="0"/>
              <a:t> </a:t>
            </a:r>
            <a:r>
              <a:rPr dirty="0" err="1"/>
              <a:t>kelelahan</a:t>
            </a:r>
            <a:r>
              <a:rPr dirty="0"/>
              <a:t> mental (decision fatigue) </a:t>
            </a:r>
            <a:r>
              <a:rPr dirty="0" err="1"/>
              <a:t>sebelum</a:t>
            </a:r>
            <a:r>
              <a:rPr dirty="0"/>
              <a:t> jam </a:t>
            </a:r>
            <a:r>
              <a:rPr dirty="0" err="1"/>
              <a:t>kerja</a:t>
            </a:r>
            <a:r>
              <a:rPr dirty="0"/>
              <a:t>/</a:t>
            </a:r>
            <a:r>
              <a:rPr dirty="0" err="1"/>
              <a:t>kuliah</a:t>
            </a:r>
            <a:r>
              <a:rPr dirty="0"/>
              <a:t> </a:t>
            </a:r>
            <a:r>
              <a:rPr dirty="0" err="1"/>
              <a:t>dimulai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A5D38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Tantangan Iklim Panas Lembab</a:t>
            </a:r>
          </a:p>
          <a:p>
            <a:pPr>
              <a:defRPr sz="950" b="1">
                <a:solidFill>
                  <a:srgbClr val="557352"/>
                </a:solidFill>
                <a:latin typeface="Calibri"/>
              </a:defRPr>
            </a:pPr>
            <a:r>
              <a:t>Suhu 33°C &amp; Kelembapan &gt;80%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Indonesia memiliki iklim tropis ekstrem. Kesalahan pemilihan material (misal: poliester tebal tanpa sirkulasi) menyebabkan keringat berlebih, gerah, dan menurunkan kenyamanan serta produktivitas harian.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A5D38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Bias Sistem Fashion Global</a:t>
            </a:r>
          </a:p>
          <a:p>
            <a:pPr>
              <a:defRPr sz="950" b="1">
                <a:solidFill>
                  <a:srgbClr val="557352"/>
                </a:solidFill>
                <a:latin typeface="Calibri"/>
              </a:defRPr>
            </a:pPr>
            <a:r>
              <a:t>Ketiadaan Konteks Kulit &amp; Modest Lokal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Aplikasi global (Pinterest, Acloset, Stylebook) didesain untuk iklim 4 musim dan standar warna kulit Barat. Belum ada platform yang mengintegrasikan 5 ragam undertone kulit Indonesia dan busana muslim santun.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2: LATAR BELAKANG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Kepentingan Riset: Bukti Data, Tren Pasar &amp; Fenomena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Tiga kekuatan pendorong yang memperkuat relevansi topik penelitian di tingkat nasional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TREN RISET KONSUMEN</a:t>
            </a:r>
          </a:p>
          <a:p>
            <a:pPr>
              <a:spcBef>
                <a:spcPts val="400"/>
              </a:spcBef>
              <a:defRPr sz="3200" b="1">
                <a:solidFill>
                  <a:srgbClr val="557352"/>
                </a:solidFill>
                <a:latin typeface="Georgia"/>
              </a:defRPr>
            </a:pPr>
            <a:r>
              <a:t>+340%</a:t>
            </a:r>
          </a:p>
          <a:p>
            <a:pPr>
              <a:spcBef>
                <a:spcPts val="4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Booming Analisis Personal Color</a:t>
            </a:r>
          </a:p>
          <a:p>
            <a:pPr>
              <a:spcBef>
                <a:spcPts val="8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Pencarian tren diagnostik warna kulit melonjak drastis di Indonesia. Konsumen Gen Z &amp; Milenial semakin menyadari bahwa warna pakaian yang keliru membuat rona wajah tampak kusam dan pucat secara visual.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PASAR DOMESTIK INDONESIA</a:t>
            </a:r>
          </a:p>
          <a:p>
            <a:pPr>
              <a:spcBef>
                <a:spcPts val="400"/>
              </a:spcBef>
              <a:defRPr sz="3200" b="1">
                <a:solidFill>
                  <a:srgbClr val="557352"/>
                </a:solidFill>
                <a:latin typeface="Georgia"/>
              </a:defRPr>
            </a:pPr>
            <a:r>
              <a:t>Rp 280 T</a:t>
            </a:r>
          </a:p>
          <a:p>
            <a:pPr>
              <a:spcBef>
                <a:spcPts val="4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Pusat Modest Fashion Dunia</a:t>
            </a:r>
          </a:p>
          <a:p>
            <a:pPr>
              <a:spcBef>
                <a:spcPts val="8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Indonesia menjadi episentrum busana santun global. Tuntutan akan paduan pakaian santun (tidak terawang, siluet proporsional, dan material jilbab tegak anti-gerah) merupakan kebutuhan primer masyarakat.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PERILAKU E-COMMERCE</a:t>
            </a:r>
          </a:p>
          <a:p>
            <a:pPr>
              <a:spcBef>
                <a:spcPts val="400"/>
              </a:spcBef>
              <a:defRPr sz="3200" b="1">
                <a:solidFill>
                  <a:srgbClr val="557352"/>
                </a:solidFill>
                <a:latin typeface="Georgia"/>
              </a:defRPr>
            </a:pPr>
            <a:r>
              <a:t>68%</a:t>
            </a:r>
          </a:p>
          <a:p>
            <a:pPr>
              <a:spcBef>
                <a:spcPts val="4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Masalah Dead Wardrobe &amp; Salah Beli</a:t>
            </a:r>
          </a:p>
          <a:p>
            <a:pPr>
              <a:spcBef>
                <a:spcPts val="8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Data perilaku belanja menunjukkan 68% konsumen sering membeli pakaian online yang akhirnya tidak terpakai karena kesulitan memadukan warna dan tekstil dengan pakaian yang sudah ada di rumah.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2: LATAR BELAKANG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Tujuan Penelitian &amp; Sasaran Capstone Project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Tiga sasaran strategis yang terukur untuk menjawab rumusan masalah secara ilmiah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TUJUAN UTAMA (ALGORITMA)</a:t>
            </a:r>
          </a:p>
          <a:p>
            <a:pPr>
              <a:spcBef>
                <a:spcPts val="8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Membangun Recommender Engine Multi-Kriteria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Merancang dan mengimplementasikan sistem rekomendasi cerdas yang memadukan input warna kulit (undertone), cuaca tropis panas lembab, tingkat formalitas acara, dan preferensi modest/hijab ke dalam formula paduan outfit yang harmonis.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TUJUAN TERAPAN (SUSTAINABLE FASHION)</a:t>
            </a:r>
          </a:p>
          <a:p>
            <a:pPr>
              <a:spcBef>
                <a:spcPts val="8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Memfasilitasi Pemanfaatan Lemari Pribadi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Mengembangkan fitur Smart Wardrobe Mixer agar pengguna dapat memadukan pakaian yang telah dimiliki di lemari dengan kurasi pakaian pelengkap baru, mengurangi perilaku konsumtif dan memaksimalkan utility pakaian.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TUJUAN EVALUATIF (PENGUJIAN EMPIRIS)</a:t>
            </a:r>
          </a:p>
          <a:p>
            <a:pPr>
              <a:spcBef>
                <a:spcPts val="800"/>
              </a:spcBef>
              <a:defRPr sz="1400" b="1">
                <a:solidFill>
                  <a:srgbClr val="181A18"/>
                </a:solidFill>
                <a:latin typeface="Georgia"/>
              </a:defRPr>
            </a:pPr>
            <a:r>
              <a:t>Menguji Kebergunaan Sistem dengan Standar SUS</a:t>
            </a:r>
          </a:p>
          <a:p>
            <a:pPr>
              <a:spcBef>
                <a:spcPts val="1000"/>
              </a:spcBef>
              <a:defRPr sz="1050">
                <a:solidFill>
                  <a:srgbClr val="181A18"/>
                </a:solidFill>
                <a:latin typeface="Calibri"/>
              </a:defRPr>
            </a:pPr>
            <a:r>
              <a:t>Mengevaluasi tingkat kebergunaan antarmuka pengguna dan akurasi rekomendasi kepada calon pengguna nyata melalui instrumen System Usability Scale (SUS) dengan target skor kelayakan ≥ 75 (kategori Good/Excellent).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2: LATAR BELAKANG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Hasil &amp; Luaran Proyek (Deliverables)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Luaran nyata yang dihasilkan dalam aspek perangkat lunak, data terstruktur, dan akademis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rPr dirty="0"/>
              <a:t>LUARAN PRODUK PERANGKAT LUNAK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rPr dirty="0" err="1"/>
              <a:t>Aplikasi</a:t>
            </a:r>
            <a:r>
              <a:rPr dirty="0"/>
              <a:t> Web </a:t>
            </a:r>
            <a:r>
              <a:rPr dirty="0" err="1"/>
              <a:t>Produksi</a:t>
            </a:r>
            <a:r>
              <a:rPr dirty="0"/>
              <a:t> '</a:t>
            </a:r>
            <a:r>
              <a:rPr dirty="0" err="1"/>
              <a:t>look.u</a:t>
            </a:r>
            <a:r>
              <a:rPr dirty="0"/>
              <a:t> AI'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rPr dirty="0"/>
              <a:t>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Aplikasi</a:t>
            </a:r>
            <a:r>
              <a:rPr dirty="0"/>
              <a:t> web </a:t>
            </a:r>
            <a:r>
              <a:rPr dirty="0" err="1"/>
              <a:t>responsif</a:t>
            </a:r>
            <a:r>
              <a:rPr dirty="0"/>
              <a:t> (Next.js 14, Tailwind CSS, Framer Motion).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Arsitektur</a:t>
            </a:r>
            <a:r>
              <a:rPr dirty="0"/>
              <a:t> Mobile-First &amp; Desktop Atelier.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22 </a:t>
            </a:r>
            <a:r>
              <a:rPr dirty="0" err="1"/>
              <a:t>rute</a:t>
            </a:r>
            <a:r>
              <a:rPr dirty="0"/>
              <a:t> </a:t>
            </a:r>
            <a:r>
              <a:rPr dirty="0" err="1"/>
              <a:t>terkompilasi</a:t>
            </a:r>
            <a:r>
              <a:rPr dirty="0"/>
              <a:t> </a:t>
            </a:r>
            <a:r>
              <a:rPr dirty="0" err="1"/>
              <a:t>bebas</a:t>
            </a:r>
            <a:r>
              <a:rPr dirty="0"/>
              <a:t> error (100% production build pass).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Fitur </a:t>
            </a:r>
            <a:r>
              <a:rPr dirty="0" err="1"/>
              <a:t>Kuis</a:t>
            </a:r>
            <a:r>
              <a:rPr dirty="0"/>
              <a:t> Personal Color, Studio </a:t>
            </a:r>
            <a:r>
              <a:rPr dirty="0" err="1"/>
              <a:t>Racik</a:t>
            </a:r>
            <a:r>
              <a:rPr dirty="0"/>
              <a:t>, Garment Switcher, dan Lemari.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LUARAN BASIS DATA &amp; ALGORITMA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Dataset &amp; Matriks Pengetahuan Tekstil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Dataset 300+ entitas katalog busana lokal dengan parameter kain.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Matriks Seasonal Color Harmony untuk 5 skin tone Indonesia.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Aturan filter sirkulasi kain tropis (katun, linen, rayon, crinkle).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Skema database Supabase &amp; fallback offline local storage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LUARAN AKADEMIS &amp; DOKUMENTASI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Laporan Tugas Akhir &amp; Laporan Uji SUS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————————————————————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Buku Laporan Capstone Project / Tugas Akhir lengkap.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Kumpulan data mentah kuesioner evaluasi responden pengguna.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Laporan analisis statistik skor System Usability Scale (SUS).</a:t>
            </a:r>
          </a:p>
          <a:p>
            <a:pPr>
              <a:spcBef>
                <a:spcPts val="6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✓ Draf Naskah Artikel Ilmiah untuk publikasi jurnal/seminar nasional.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3: METODOLOGI &amp; RENCANA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Metodologi Penelitian &amp; Arsitektur Sistem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Kombinasi pendekatan User-Centered Design, Hybrid AI Engine, dan Evaluasi Standar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PENDEKATAN PENGEMBANGAN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User-Centered Design (UCD) &amp; Agile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Pengembangan perangkat lunak berulang melalui 5 fase: Empathize (analisis kebiasaan berpakaian) → Define (identifikasi masalah iklim &amp; warna) → Ideate (arsitektur hybrid) → Prototype (Next.js 14) → Evaluate (kuesioner pengguna).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ENGINE REKOMENDASI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Hybrid Knowledge-Based &amp; Generative AI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1. Aturan Pengetahuan: Filtering warna kulit &amp; permeabilitas kain katun/linen secara deterministik.</a:t>
            </a:r>
            <a:br/>
            <a:r>
              <a:t>2. Generative AI: Gemini 2.5 Flash untuk narasi gaya dan tips hijab.</a:t>
            </a:r>
            <a:br/>
            <a:r>
              <a:t>3. Heuristic Engine: Cadangan instan jika API timeout.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907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METODE PENGUJIAN</a:t>
            </a:r>
          </a:p>
          <a:p>
            <a:pPr>
              <a:spcBef>
                <a:spcPts val="600"/>
              </a:spcBef>
              <a:defRPr sz="1350" b="1">
                <a:solidFill>
                  <a:srgbClr val="181A18"/>
                </a:solidFill>
                <a:latin typeface="Georgia"/>
              </a:defRPr>
            </a:pPr>
            <a:r>
              <a:t>System Usability Scale (SUS) &amp; Likert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1. SUS Framework: 10 pertanyaan standar untuk mengukur usability antarmuka secara objektif.</a:t>
            </a:r>
            <a:br/>
            <a:r>
              <a:t>2. Kuesioner Kepuasan AI: Skala Likert 1–5 mengukur relevansi warna personal, kesesuaian iklim, dan efisiensi waktu memilih pakaian.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3: METODOLOGI &amp; RENCANA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Data yang Digunakan &amp; Klasifikasi Sumber Data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Pemetaan variabel data sistem serta diferensiasi sumber data primer dan sekunder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A5D38"/>
                </a:solidFill>
                <a:latin typeface="Calibri"/>
              </a:defRPr>
            </a:pPr>
            <a:r>
              <a:t>STRUKTUR DATA SISTEM</a:t>
            </a:r>
          </a:p>
          <a:p>
            <a:pPr>
              <a:spcBef>
                <a:spcPts val="400"/>
              </a:spcBef>
              <a:defRPr sz="1500" b="1">
                <a:solidFill>
                  <a:srgbClr val="181A18"/>
                </a:solidFill>
                <a:latin typeface="Georgia"/>
              </a:defRPr>
            </a:pPr>
            <a:r>
              <a:t>Entitas Data yang Diolah look.u AI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• Data Personal Color: 5 Skin tone lokal (Putih Gading, Kuning Langsat, Sawo Matang, Eksotis, Deep Bronze) &amp; 3 Undertone.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• Data Katalog Pakaian (300+ Item): Atribut atasan, bawahan, hijab/outer, alas kaki, kode warna HEX, estimasi harga IDR, dan sirkulasi kain.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• Data Parameter Iklim Tropis: Tingkat sirkulasi udara serat tekstil (katun rayon, linen euro, crinkle airflow, voal ultrafine).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• Data Konteks Agenda &amp; Acara: Klasifikasi 6 agenda: Kuliah, Kantor, Hangout, Kondangan, Liburan, dan Santai.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783080"/>
            <a:ext cx="51663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201168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57352"/>
                </a:solidFill>
                <a:latin typeface="Calibri"/>
              </a:defRPr>
            </a:pPr>
            <a:r>
              <a:rPr dirty="0"/>
              <a:t>KLASIFIKASI SUMBER DATA</a:t>
            </a:r>
          </a:p>
          <a:p>
            <a:pPr>
              <a:spcBef>
                <a:spcPts val="400"/>
              </a:spcBef>
              <a:defRPr sz="1500" b="1">
                <a:solidFill>
                  <a:srgbClr val="181A18"/>
                </a:solidFill>
                <a:latin typeface="Georgia"/>
              </a:defRPr>
            </a:pPr>
            <a:r>
              <a:rPr dirty="0" err="1"/>
              <a:t>Sumber</a:t>
            </a:r>
            <a:r>
              <a:rPr dirty="0"/>
              <a:t> Data Primer &amp; </a:t>
            </a:r>
            <a:r>
              <a:rPr dirty="0" err="1"/>
              <a:t>Sekunder</a:t>
            </a:r>
            <a:endParaRPr dirty="0"/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Data Primer (Masyarakat </a:t>
            </a:r>
            <a:r>
              <a:rPr dirty="0" err="1"/>
              <a:t>Pengguna</a:t>
            </a:r>
            <a:r>
              <a:rPr dirty="0"/>
              <a:t>): Hasil </a:t>
            </a:r>
            <a:r>
              <a:rPr dirty="0" err="1"/>
              <a:t>kuesioner</a:t>
            </a:r>
            <a:r>
              <a:rPr dirty="0"/>
              <a:t> </a:t>
            </a:r>
            <a:r>
              <a:rPr dirty="0" err="1"/>
              <a:t>evaluasi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responden</a:t>
            </a:r>
            <a:r>
              <a:rPr dirty="0"/>
              <a:t> (</a:t>
            </a:r>
            <a:r>
              <a:rPr dirty="0" err="1"/>
              <a:t>mahasiswa</a:t>
            </a:r>
            <a:r>
              <a:rPr dirty="0"/>
              <a:t> &amp; </a:t>
            </a:r>
            <a:r>
              <a:rPr dirty="0" err="1"/>
              <a:t>pekerja</a:t>
            </a:r>
            <a:r>
              <a:rPr dirty="0"/>
              <a:t> </a:t>
            </a:r>
            <a:r>
              <a:rPr dirty="0" err="1"/>
              <a:t>usia</a:t>
            </a:r>
            <a:r>
              <a:rPr dirty="0"/>
              <a:t> 18–35 </a:t>
            </a:r>
            <a:r>
              <a:rPr dirty="0" err="1"/>
              <a:t>tahun</a:t>
            </a:r>
            <a:r>
              <a:rPr dirty="0"/>
              <a:t>) 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mencoba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Data </a:t>
            </a:r>
            <a:r>
              <a:rPr dirty="0" err="1"/>
              <a:t>Sekunder</a:t>
            </a:r>
            <a:r>
              <a:rPr dirty="0"/>
              <a:t> (Industri Tekstil): Studi </a:t>
            </a:r>
            <a:r>
              <a:rPr dirty="0" err="1"/>
              <a:t>literatur</a:t>
            </a:r>
            <a:r>
              <a:rPr dirty="0"/>
              <a:t> </a:t>
            </a:r>
            <a:r>
              <a:rPr dirty="0" err="1"/>
              <a:t>permeabilitas</a:t>
            </a:r>
            <a:r>
              <a:rPr dirty="0"/>
              <a:t> </a:t>
            </a:r>
            <a:r>
              <a:rPr dirty="0" err="1"/>
              <a:t>udara</a:t>
            </a:r>
            <a:r>
              <a:rPr dirty="0"/>
              <a:t> </a:t>
            </a:r>
            <a:r>
              <a:rPr dirty="0" err="1"/>
              <a:t>serat</a:t>
            </a:r>
            <a:r>
              <a:rPr dirty="0"/>
              <a:t> </a:t>
            </a:r>
            <a:r>
              <a:rPr dirty="0" err="1"/>
              <a:t>alami</a:t>
            </a:r>
            <a:r>
              <a:rPr dirty="0"/>
              <a:t> </a:t>
            </a:r>
            <a:r>
              <a:rPr dirty="0" err="1"/>
              <a:t>tropis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ketahanan</a:t>
            </a:r>
            <a:r>
              <a:rPr dirty="0"/>
              <a:t> </a:t>
            </a:r>
            <a:r>
              <a:rPr dirty="0" err="1"/>
              <a:t>iklim</a:t>
            </a:r>
            <a:r>
              <a:rPr dirty="0"/>
              <a:t> </a:t>
            </a:r>
            <a:r>
              <a:rPr dirty="0" err="1"/>
              <a:t>panas</a:t>
            </a:r>
            <a:r>
              <a:rPr dirty="0"/>
              <a:t> </a:t>
            </a:r>
            <a:r>
              <a:rPr dirty="0" err="1"/>
              <a:t>lembab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Data </a:t>
            </a:r>
            <a:r>
              <a:rPr dirty="0" err="1"/>
              <a:t>Sekunder</a:t>
            </a:r>
            <a:r>
              <a:rPr dirty="0"/>
              <a:t> (Teori Warna): Teori Seasonal Color Analysis </a:t>
            </a:r>
            <a:r>
              <a:rPr dirty="0" err="1"/>
              <a:t>internasional</a:t>
            </a:r>
            <a:r>
              <a:rPr dirty="0"/>
              <a:t> yang </a:t>
            </a:r>
            <a:r>
              <a:rPr dirty="0" err="1"/>
              <a:t>dikalibrasi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spektrum</a:t>
            </a:r>
            <a:r>
              <a:rPr dirty="0"/>
              <a:t> melanin </a:t>
            </a:r>
            <a:r>
              <a:rPr dirty="0" err="1"/>
              <a:t>kulit</a:t>
            </a:r>
            <a:r>
              <a:rPr dirty="0"/>
              <a:t> Asia Tenggara.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rPr dirty="0"/>
              <a:t>✓ Data </a:t>
            </a:r>
            <a:r>
              <a:rPr dirty="0" err="1"/>
              <a:t>Sekunder</a:t>
            </a:r>
            <a:r>
              <a:rPr dirty="0"/>
              <a:t> (</a:t>
            </a:r>
            <a:r>
              <a:rPr dirty="0" err="1"/>
              <a:t>Katalog</a:t>
            </a:r>
            <a:r>
              <a:rPr dirty="0"/>
              <a:t> E-Commerce): </a:t>
            </a:r>
            <a:r>
              <a:rPr dirty="0" err="1"/>
              <a:t>Spesifikasi</a:t>
            </a:r>
            <a:r>
              <a:rPr dirty="0"/>
              <a:t> model </a:t>
            </a:r>
            <a:r>
              <a:rPr dirty="0" err="1"/>
              <a:t>pakaian</a:t>
            </a:r>
            <a:r>
              <a:rPr dirty="0"/>
              <a:t> dan </a:t>
            </a:r>
            <a:r>
              <a:rPr dirty="0" err="1"/>
              <a:t>rentang</a:t>
            </a:r>
            <a:r>
              <a:rPr dirty="0"/>
              <a:t> </a:t>
            </a:r>
            <a:r>
              <a:rPr dirty="0" err="1"/>
              <a:t>harga</a:t>
            </a:r>
            <a:r>
              <a:rPr dirty="0"/>
              <a:t> </a:t>
            </a:r>
            <a:r>
              <a:rPr dirty="0" err="1"/>
              <a:t>realistik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marketplace </a:t>
            </a:r>
            <a:r>
              <a:rPr dirty="0" err="1"/>
              <a:t>resmi</a:t>
            </a:r>
            <a:r>
              <a:rPr dirty="0"/>
              <a:t> Indonesia (Shopee &amp; Tokopedia).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FBF3EF"/>
          </a:solidFill>
          <a:ln w="12700">
            <a:solidFill>
              <a:srgbClr val="BA5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BA5D38"/>
                </a:solidFill>
                <a:latin typeface="Calibri"/>
              </a:defRPr>
            </a:pPr>
            <a:r>
              <a:t>BAGIAN 3: METODOLOGI &amp; RENCANA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A18"/>
                </a:solidFill>
                <a:latin typeface="Georgia"/>
              </a:defRPr>
            </a:pPr>
            <a:r>
              <a:t>Rencana Penyelesaian Data &amp; Roadmap Evaluasi Kuesioner</a:t>
            </a:r>
          </a:p>
          <a:p>
            <a:pPr>
              <a:spcBef>
                <a:spcPts val="300"/>
              </a:spcBef>
              <a:defRPr sz="1100">
                <a:solidFill>
                  <a:srgbClr val="8A7A68"/>
                </a:solidFill>
                <a:latin typeface="Calibri"/>
              </a:defRPr>
            </a:pPr>
            <a:r>
              <a:t>Tahapan pengumpulan masukan responden dan validasi empiris untuk laporan Tugas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8A7A68"/>
                </a:solidFill>
                <a:latin typeface="Calibri"/>
              </a:defRPr>
            </a:pPr>
            <a:r>
              <a:t>look.u AI • Proposal Capstone Project &amp; Tugas Akhir 2026                                                                                           Slide 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871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TAHAP 1</a:t>
            </a:r>
          </a:p>
          <a:p>
            <a:pPr>
              <a:spcBef>
                <a:spcPts val="400"/>
              </a:spcBef>
              <a:defRPr sz="1300" b="1">
                <a:solidFill>
                  <a:srgbClr val="181A18"/>
                </a:solidFill>
                <a:latin typeface="Georgia"/>
              </a:defRPr>
            </a:pPr>
            <a:r>
              <a:t>Data Curation &amp; Prep</a:t>
            </a:r>
          </a:p>
          <a:p>
            <a:pPr>
              <a:spcBef>
                <a:spcPts val="200"/>
              </a:spcBef>
              <a:defRPr sz="850" b="1">
                <a:solidFill>
                  <a:srgbClr val="557352"/>
                </a:solidFill>
                <a:latin typeface="Calibri"/>
              </a:defRPr>
            </a:pPr>
            <a:r>
              <a:t>[SELESAI 100%]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Kurasi 300+ entitas katalog pakaian tropis, normalisasi kode warna, dan perumusan matriks personal color.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4871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TAHAP 2</a:t>
            </a:r>
          </a:p>
          <a:p>
            <a:pPr>
              <a:spcBef>
                <a:spcPts val="400"/>
              </a:spcBef>
              <a:defRPr sz="1300" b="1">
                <a:solidFill>
                  <a:srgbClr val="181A18"/>
                </a:solidFill>
                <a:latin typeface="Georgia"/>
              </a:defRPr>
            </a:pPr>
            <a:r>
              <a:t>Deployment Prototipe</a:t>
            </a:r>
          </a:p>
          <a:p>
            <a:pPr>
              <a:spcBef>
                <a:spcPts val="200"/>
              </a:spcBef>
              <a:defRPr sz="850" b="1">
                <a:solidFill>
                  <a:srgbClr val="557352"/>
                </a:solidFill>
                <a:latin typeface="Calibri"/>
              </a:defRPr>
            </a:pPr>
            <a:r>
              <a:t>[SIAP DILUNCURKAN]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Hosting web app produksi (22 rute bebas error) agar responden dapat mengakses langsung dari HP.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24871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TAHAP 3</a:t>
            </a:r>
          </a:p>
          <a:p>
            <a:pPr>
              <a:spcBef>
                <a:spcPts val="400"/>
              </a:spcBef>
              <a:defRPr sz="1300" b="1">
                <a:solidFill>
                  <a:srgbClr val="181A18"/>
                </a:solidFill>
                <a:latin typeface="Georgia"/>
              </a:defRPr>
            </a:pPr>
            <a:r>
              <a:t>Pengujian Kuesioner</a:t>
            </a:r>
          </a:p>
          <a:p>
            <a:pPr>
              <a:spcBef>
                <a:spcPts val="200"/>
              </a:spcBef>
              <a:defRPr sz="850" b="1">
                <a:solidFill>
                  <a:srgbClr val="557352"/>
                </a:solidFill>
                <a:latin typeface="Calibri"/>
              </a:defRPr>
            </a:pPr>
            <a:r>
              <a:t>[ON PROGRESS]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Penyebaran instrumen kuesioner System Usability Scale (SUS) kepada target minimal 30–50 responden.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83080"/>
            <a:ext cx="24871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196596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BA5D38"/>
                </a:solidFill>
                <a:latin typeface="Calibri"/>
              </a:defRPr>
            </a:pPr>
            <a:r>
              <a:t>TAHAP 4</a:t>
            </a:r>
          </a:p>
          <a:p>
            <a:pPr>
              <a:spcBef>
                <a:spcPts val="400"/>
              </a:spcBef>
              <a:defRPr sz="1300" b="1">
                <a:solidFill>
                  <a:srgbClr val="181A18"/>
                </a:solidFill>
                <a:latin typeface="Georgia"/>
              </a:defRPr>
            </a:pPr>
            <a:r>
              <a:t>Analisis Statistik</a:t>
            </a:r>
          </a:p>
          <a:p>
            <a:pPr>
              <a:spcBef>
                <a:spcPts val="200"/>
              </a:spcBef>
              <a:defRPr sz="850" b="1">
                <a:solidFill>
                  <a:srgbClr val="557352"/>
                </a:solidFill>
                <a:latin typeface="Calibri"/>
              </a:defRPr>
            </a:pPr>
            <a:r>
              <a:t>[FINAL STAGE]</a:t>
            </a:r>
          </a:p>
          <a:p>
            <a:pPr>
              <a:spcBef>
                <a:spcPts val="400"/>
              </a:spcBef>
              <a:defRPr sz="800">
                <a:solidFill>
                  <a:srgbClr val="E8DFD1"/>
                </a:solidFill>
              </a:defRPr>
            </a:pPr>
            <a:r>
              <a:t>———————————————</a:t>
            </a:r>
          </a:p>
          <a:p>
            <a:pPr>
              <a:spcBef>
                <a:spcPts val="800"/>
              </a:spcBef>
              <a:defRPr sz="1000">
                <a:solidFill>
                  <a:srgbClr val="181A18"/>
                </a:solidFill>
                <a:latin typeface="Calibri"/>
              </a:defRPr>
            </a:pPr>
            <a:r>
              <a:t>Perhitungan skor rata-rata SUS (target ≥ 75) dan penarikan kesimpulan ilmiah di laporan akhir.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A5D38"/>
                </a:solidFill>
                <a:latin typeface="Calibri"/>
              </a:defRPr>
            </a:pPr>
            <a:r>
              <a:t>KESIMPULAN &amp; PENUTUP</a:t>
            </a:r>
          </a:p>
          <a:p>
            <a:pPr algn="ctr">
              <a:spcBef>
                <a:spcPts val="600"/>
              </a:spcBef>
              <a:defRPr sz="4200" b="1">
                <a:solidFill>
                  <a:srgbClr val="181A18"/>
                </a:solidFill>
                <a:latin typeface="Georgia"/>
              </a:defRPr>
            </a:pPr>
            <a:r>
              <a:t>Terima Kasih</a:t>
            </a:r>
          </a:p>
          <a:p>
            <a:pPr algn="ctr">
              <a:spcBef>
                <a:spcPts val="1000"/>
              </a:spcBef>
              <a:defRPr sz="1300">
                <a:solidFill>
                  <a:srgbClr val="8A7A68"/>
                </a:solidFill>
                <a:latin typeface="Calibri"/>
              </a:defRPr>
            </a:pPr>
            <a:r>
              <a:t>look.u AI siap melangkah ke tahap pengujian empiris dan pengumpulan data kuesioner pengguna.</a:t>
            </a:r>
            <a:br/>
            <a:r>
              <a:t>Kami sangat mengharapkan masukan, saran, dan arahan dari Bapak/Ibu Dosen Penguji.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557352"/>
                </a:solidFill>
                <a:latin typeface="Georgia"/>
              </a:defRPr>
            </a:pPr>
            <a:r>
              <a:t>Sesi Tanya Jawab (Q&amp;A) Dibuka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1691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abimanyu setiadjie</cp:lastModifiedBy>
  <cp:revision>2</cp:revision>
  <dcterms:created xsi:type="dcterms:W3CDTF">2013-01-27T09:14:16Z</dcterms:created>
  <dcterms:modified xsi:type="dcterms:W3CDTF">2026-09-21T23:43:54Z</dcterms:modified>
  <cp:category/>
</cp:coreProperties>
</file>